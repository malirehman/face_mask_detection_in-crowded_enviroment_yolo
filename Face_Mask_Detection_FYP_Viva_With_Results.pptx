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Mask Detection • FYP Viva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pic>
        <p:nvPicPr>
          <p:cNvPr id="3" name="Image 0" descr="/mnt/data/fyp_assets/cover.png">    </p:cNvPr>
          <p:cNvPicPr>
            <a:picLocks noChangeAspect="1"/>
          </p:cNvPicPr>
          <p:nvPr/>
        </p:nvPicPr>
        <p:blipFill>
          <a:blip r:embed="rId1"/>
          <a:srcRect l="23000" r="-17471" t="13000" b="14000"/>
          <a:stretch/>
        </p:blipFill>
        <p:spPr>
          <a:xfrm>
            <a:off x="566928" y="50292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0280" y="6217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DEPARTMENT OF COMPUTER SCIENCE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24028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ISLAMIA COLLEGE, PESHAWAR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" y="1847088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 MASK DETECTION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CROWDED ENVIRONMENTS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YOLO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4279392" y="3493008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0832" y="3566160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3B5B"/>
                </a:solidFill>
              </a:rPr>
              <a:t>FYP VIVA PRESENTATION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011680" y="4187952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</a:rPr>
              <a:t>Muhammad Ali Rehman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11680" y="4617720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Roll No. 221350  •  Session 2022–2026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011680" y="5102352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B5B"/>
                </a:solidFill>
              </a:rPr>
              <a:t>Supervisor: Dr. Muhammad Sajjad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571500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 simple YOLO + OpenCV pipeline for Mask / No Mask detection in images, videos and live input.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9235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Why this project is needed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9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6362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B5B"/>
                </a:solidFill>
              </a:rPr>
              <a:t>The problem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Manual monitoring is slow and inconsistent when many people appear in the same frame. Crowded scenes, blur, poor lighting and partial occlusion make the task harder.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9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1732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563624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B5B"/>
                </a:solidFill>
              </a:rPr>
              <a:t>Our motivation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373368" y="1929384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Build a practical computer-vision system that can detect multiple faces and classify each one as Mask or No Mask with clear visual output.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Project goal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43251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224528"/>
            <a:ext cx="10533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</a:rPr>
              <a:t>Detect faces in images, videos and webcam input.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85800" y="500176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901184"/>
            <a:ext cx="10533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</a:rPr>
              <a:t>Classify each detected face as Mask or No Mask.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85800" y="56784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5577840"/>
            <a:ext cx="10533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</a:rPr>
              <a:t>Show bounding boxes, labels and confidence values.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685800" y="635508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6254496"/>
            <a:ext cx="10533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</a:rPr>
              <a:t>Keep the inference workflow simple enough for an FYP demo.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Objectives &amp; Proposed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9235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What the system actually does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2487168" cy="1737360"/>
          </a:xfrm>
          <a:prstGeom prst="roundRect">
            <a:avLst>
              <a:gd name="adj" fmla="val 3684"/>
            </a:avLst>
          </a:prstGeom>
          <a:solidFill>
            <a:srgbClr val="EAF2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B5B"/>
                </a:solidFill>
              </a:rPr>
              <a:t>Detect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Locate faces in each input frame.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481328"/>
            <a:ext cx="2487168" cy="1737360"/>
          </a:xfrm>
          <a:prstGeom prst="roundRect">
            <a:avLst>
              <a:gd name="adj" fmla="val 3684"/>
            </a:avLst>
          </a:prstGeom>
          <a:solidFill>
            <a:srgbClr val="E8FAFD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75564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B5B"/>
                </a:solidFill>
              </a:rPr>
              <a:t>Classify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39312" y="2267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Assign Mask or No Mask.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91072" y="1481328"/>
            <a:ext cx="2487168" cy="1737360"/>
          </a:xfrm>
          <a:prstGeom prst="roundRect">
            <a:avLst>
              <a:gd name="adj" fmla="val 3684"/>
            </a:avLst>
          </a:prstGeom>
          <a:solidFill>
            <a:srgbClr val="EAF2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75564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B5B"/>
                </a:solidFill>
              </a:rPr>
              <a:t>Visualize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55664" y="2267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Draw boxes, labels and confidence.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07424" y="1481328"/>
            <a:ext cx="2487168" cy="1737360"/>
          </a:xfrm>
          <a:prstGeom prst="roundRect">
            <a:avLst>
              <a:gd name="adj" fmla="val 3684"/>
            </a:avLst>
          </a:prstGeom>
          <a:solidFill>
            <a:srgbClr val="E8FAFD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0304" y="175564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B5B"/>
                </a:solidFill>
              </a:rPr>
              <a:t>Process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72016" y="2267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Support image, video and webcam streams.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" y="3858768"/>
            <a:ext cx="10149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58368" y="40965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B5B"/>
                </a:solidFill>
              </a:rPr>
              <a:t>Proposed solution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788920" y="40599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Use a single-stage Ultralytics YOLO detector instead of a separate face detector + classifier pipeline.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4782312"/>
            <a:ext cx="5577840" cy="384048"/>
          </a:xfrm>
          <a:prstGeom prst="roundRect">
            <a:avLst>
              <a:gd name="adj" fmla="val 14286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5546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Single model → multiple detections → Mask / No Mask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Source: project thesis, Chapter 3 — objectives and system overview.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Existing Approach vs Proposed YOLO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9235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main technical difference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417320"/>
            <a:ext cx="2057400" cy="502920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4533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Aspect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587752" y="1417320"/>
            <a:ext cx="3977640" cy="502920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0904" y="154533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Existing approach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65392" y="1417320"/>
            <a:ext cx="5102352" cy="502920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8544" y="154533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Proposed system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1920240"/>
            <a:ext cx="20574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0574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3B5B"/>
                </a:solidFill>
              </a:rPr>
              <a:t>Detection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2587752" y="1920240"/>
            <a:ext cx="39776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205740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Often two-stage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1920240"/>
            <a:ext cx="510235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205740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Single-stage YOLO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30352" y="2596896"/>
            <a:ext cx="2057400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73405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3B5B"/>
                </a:solidFill>
              </a:rPr>
              <a:t>Crowded scenes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587752" y="2596896"/>
            <a:ext cx="3977640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2734056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Limited support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565392" y="2596896"/>
            <a:ext cx="5102352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5976" y="2734056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Multiple faces in one pass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530352" y="3273552"/>
            <a:ext cx="20574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41071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3B5B"/>
                </a:solidFill>
              </a:rPr>
              <a:t>Processing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2587752" y="3273552"/>
            <a:ext cx="39776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3410712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Separate detection + classification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565392" y="3273552"/>
            <a:ext cx="510235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3410712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Integrated detection + classification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30352" y="3950208"/>
            <a:ext cx="2057400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08736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3B5B"/>
                </a:solidFill>
              </a:rPr>
              <a:t>Output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2587752" y="3950208"/>
            <a:ext cx="3977640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88336" y="408736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Basic labels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565392" y="3950208"/>
            <a:ext cx="5102352" cy="676656"/>
          </a:xfrm>
          <a:prstGeom prst="rect">
            <a:avLst/>
          </a:prstGeom>
          <a:solidFill>
            <a:srgbClr val="F2F6FA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40873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Boxes + class + confidence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30352" y="4626864"/>
            <a:ext cx="20574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476402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3B5B"/>
                </a:solidFill>
              </a:rPr>
              <a:t>Testing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2587752" y="4626864"/>
            <a:ext cx="39776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88336" y="4764024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Research / prototype focused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6565392" y="4626864"/>
            <a:ext cx="510235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F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5976" y="476402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Notebook + video / webcam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58368" y="56692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563EB"/>
                </a:solidFill>
              </a:rPr>
              <a:t>Key idea: YOLO combines localization and classification in one integrated inference workflow.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9235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From dataset to final prediction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2064" y="1874520"/>
            <a:ext cx="1993392" cy="1508760"/>
          </a:xfrm>
          <a:prstGeom prst="roundRect">
            <a:avLst>
              <a:gd name="adj" fmla="val 4242"/>
            </a:avLst>
          </a:prstGeom>
          <a:solidFill>
            <a:srgbClr val="EAF2FF"/>
          </a:solidFill>
          <a:ln w="12700">
            <a:solidFill>
              <a:srgbClr val="CBD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490472"/>
            <a:ext cx="548640" cy="548640"/>
          </a:xfrm>
          <a:prstGeom prst="ellipse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Dataset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" y="25968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Face images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42032" y="2350008"/>
            <a:ext cx="228600" cy="3931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874520"/>
            <a:ext cx="1993392" cy="1508760"/>
          </a:xfrm>
          <a:prstGeom prst="roundRect">
            <a:avLst>
              <a:gd name="adj" fmla="val 4242"/>
            </a:avLst>
          </a:prstGeom>
          <a:solidFill>
            <a:srgbClr val="EAF2FF"/>
          </a:solidFill>
          <a:ln w="12700">
            <a:solidFill>
              <a:srgbClr val="CBD7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490472"/>
            <a:ext cx="548640" cy="548640"/>
          </a:xfrm>
          <a:prstGeom prst="ellipse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53512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Annotation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53512" y="25968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YOLO labels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(class + box)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350008"/>
            <a:ext cx="228600" cy="3931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874520"/>
            <a:ext cx="1993392" cy="1508760"/>
          </a:xfrm>
          <a:prstGeom prst="roundRect">
            <a:avLst>
              <a:gd name="adj" fmla="val 4242"/>
            </a:avLst>
          </a:prstGeom>
          <a:solidFill>
            <a:srgbClr val="EAF2FF"/>
          </a:solidFill>
          <a:ln w="12700">
            <a:solidFill>
              <a:srgbClr val="CBD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3016" y="1490472"/>
            <a:ext cx="548640" cy="548640"/>
          </a:xfrm>
          <a:prstGeom prst="ellipse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Training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57800" y="25968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Google Colab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50608" y="2350008"/>
            <a:ext cx="228600" cy="3931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1874520"/>
            <a:ext cx="1993392" cy="1508760"/>
          </a:xfrm>
          <a:prstGeom prst="roundRect">
            <a:avLst>
              <a:gd name="adj" fmla="val 4242"/>
            </a:avLst>
          </a:prstGeom>
          <a:solidFill>
            <a:srgbClr val="EAF8EF"/>
          </a:solidFill>
          <a:ln w="12700">
            <a:solidFill>
              <a:srgbClr val="CBD7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47304" y="1490472"/>
            <a:ext cx="548640" cy="548640"/>
          </a:xfrm>
          <a:prstGeom prst="ellipse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7304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62088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Weights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62088" y="25968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best.pt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54896" y="2350008"/>
            <a:ext cx="228600" cy="3931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1874520"/>
            <a:ext cx="1993392" cy="1508760"/>
          </a:xfrm>
          <a:prstGeom prst="roundRect">
            <a:avLst>
              <a:gd name="adj" fmla="val 4242"/>
            </a:avLst>
          </a:prstGeom>
          <a:solidFill>
            <a:srgbClr val="E8FAFD"/>
          </a:solidFill>
          <a:ln w="12700">
            <a:solidFill>
              <a:srgbClr val="CBD7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1592" y="1490472"/>
            <a:ext cx="548640" cy="548640"/>
          </a:xfrm>
          <a:prstGeom prst="ellipse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51592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66376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Inference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866376" y="25968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facemask.ipynb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+ OpenCV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011680" y="4251960"/>
            <a:ext cx="815644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53B5B"/>
                </a:solidFill>
              </a:rPr>
              <a:t>Final output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3703320" y="4443984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Bounding box + class label + confidence score on each detected face.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566928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thesis workflow diagram on page 14 follows this same sequence: dataset → annotation → training → best.pt → inference → output.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2137"/>
                </a:solidFill>
              </a:rPr>
              <a:t>5. YOLO Architecture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Single-stage object detection: detection + classification in one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932688"/>
            <a:ext cx="10972800" cy="22860"/>
          </a:xfrm>
          <a:prstGeom prst="rect">
            <a:avLst/>
          </a:prstGeom>
          <a:solidFill>
            <a:srgbClr val="1F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1645920"/>
            <a:ext cx="1828800" cy="132588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Input</a:t>
            </a:r>
          </a:p>
          <a:p>
            <a:r>
              <a:rPr sz="1120">
                <a:solidFill>
                  <a:srgbClr val="0F2137"/>
                </a:solidFill>
              </a:rPr>
              <a:t>Image / video frame
from OpenCV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1645920"/>
            <a:ext cx="1828800" cy="132588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Backbone</a:t>
            </a:r>
          </a:p>
          <a:p>
            <a:r>
              <a:rPr sz="1120">
                <a:solidFill>
                  <a:srgbClr val="0F2137"/>
                </a:solidFill>
              </a:rPr>
              <a:t>Extracts visual
features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1645920"/>
            <a:ext cx="1828800" cy="132588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Neck</a:t>
            </a:r>
          </a:p>
          <a:p>
            <a:r>
              <a:rPr sz="1120">
                <a:solidFill>
                  <a:srgbClr val="0F2137"/>
                </a:solidFill>
              </a:rPr>
              <a:t>Combines features at
different scales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1645920"/>
            <a:ext cx="1828800" cy="132588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Detection Head</a:t>
            </a:r>
          </a:p>
          <a:p>
            <a:r>
              <a:rPr sz="1120">
                <a:solidFill>
                  <a:srgbClr val="0F2137"/>
                </a:solidFill>
              </a:rPr>
              <a:t>Predicts bounding boxes
and classes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1645920"/>
            <a:ext cx="1828800" cy="132588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NMS + Output</a:t>
            </a:r>
          </a:p>
          <a:p>
            <a:r>
              <a:rPr sz="1120">
                <a:solidFill>
                  <a:srgbClr val="0F2137"/>
                </a:solidFill>
              </a:rPr>
              <a:t>Removes duplicate boxes
and keeps strong detections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67712" y="2304288"/>
            <a:ext cx="292608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62272" y="2304288"/>
            <a:ext cx="292608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56832" y="2304288"/>
            <a:ext cx="292608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51392" y="2304288"/>
            <a:ext cx="292608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51560" y="3429000"/>
            <a:ext cx="9509760" cy="1234440"/>
          </a:xfrm>
          <a:prstGeom prst="roundRect">
            <a:avLst/>
          </a:prstGeom>
          <a:solidFill>
            <a:srgbClr val="F5FAF5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Project Output</a:t>
            </a:r>
          </a:p>
          <a:p>
            <a:r>
              <a:rPr sz="1120">
                <a:solidFill>
                  <a:srgbClr val="0F2137"/>
                </a:solidFill>
              </a:rPr>
              <a:t>For each detected face: bounding box + class (Mask / No Mask) + confidence score.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892040"/>
            <a:ext cx="10972800" cy="868680"/>
          </a:xfrm>
          <a:prstGeom prst="roundRect">
            <a:avLst/>
          </a:prstGeom>
          <a:solidFill>
            <a:srgbClr val="FAF8F0"/>
          </a:solidFill>
          <a:ln w="17780">
            <a:solidFill>
              <a:srgbClr val="B9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875F14"/>
                </a:solidFill>
              </a:rPr>
              <a:t>Why YOLO for this project</a:t>
            </a:r>
          </a:p>
          <a:p>
            <a:r>
              <a:rPr sz="1120">
                <a:solidFill>
                  <a:srgbClr val="0F2137"/>
                </a:solidFill>
              </a:rPr>
              <a:t>It can handle multiple faces in the same frame and performs localization and classification in one inference pass.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46E"/>
                </a:solidFill>
              </a:rPr>
              <a:t>Viva wording: “I used the Ultralytics YOLO single-stage detector. My checkpoint is saved as best.pt.”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2137"/>
                </a:solidFill>
              </a:rPr>
              <a:t>6. How I Trained the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Custom face-mask detector trained on two classes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932688"/>
            <a:ext cx="10972800" cy="22860"/>
          </a:xfrm>
          <a:prstGeom prst="rect">
            <a:avLst/>
          </a:prstGeom>
          <a:solidFill>
            <a:srgbClr val="1F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1508760"/>
            <a:ext cx="2331720" cy="16002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1. Dataset</a:t>
            </a:r>
          </a:p>
          <a:p>
            <a:r>
              <a:rPr sz="1120">
                <a:solidFill>
                  <a:srgbClr val="0F2137"/>
                </a:solidFill>
              </a:rPr>
              <a:t>Face images
Mask / No Mask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39" y="2304288"/>
            <a:ext cx="301752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39" y="1508760"/>
            <a:ext cx="2331720" cy="16002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2. Annotation</a:t>
            </a:r>
          </a:p>
          <a:p>
            <a:r>
              <a:rPr sz="1120">
                <a:solidFill>
                  <a:srgbClr val="0F2137"/>
                </a:solidFill>
              </a:rPr>
              <a:t>YOLO labels:
class + box coordinates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23559" y="2304288"/>
            <a:ext cx="301753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80759" y="1508760"/>
            <a:ext cx="2331720" cy="16002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3. Training</a:t>
            </a:r>
          </a:p>
          <a:p>
            <a:r>
              <a:rPr sz="1120">
                <a:solidFill>
                  <a:srgbClr val="0F2137"/>
                </a:solidFill>
              </a:rPr>
              <a:t>Google Colab
50 epochs · batch 16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0" y="2304288"/>
            <a:ext cx="301752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869680" y="1508760"/>
            <a:ext cx="2331720" cy="16002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4. Saved Model</a:t>
            </a:r>
          </a:p>
          <a:p>
            <a:r>
              <a:rPr sz="1120">
                <a:solidFill>
                  <a:srgbClr val="0F2137"/>
                </a:solidFill>
              </a:rPr>
              <a:t>best.pt
learned weights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520440"/>
            <a:ext cx="10698480" cy="1051560"/>
          </a:xfrm>
          <a:prstGeom prst="roundRect">
            <a:avLst/>
          </a:prstGeom>
          <a:solidFill>
            <a:srgbClr val="F5FAF5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What the model learns</a:t>
            </a:r>
          </a:p>
          <a:p>
            <a:r>
              <a:rPr sz="1120">
                <a:solidFill>
                  <a:srgbClr val="0F2137"/>
                </a:solidFill>
              </a:rPr>
              <a:t>It learns visual patterns that help it locate a face and classify that detected object as either Mask or No Mask.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5166360" cy="100584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Training data split</a:t>
            </a:r>
          </a:p>
          <a:p>
            <a:r>
              <a:rPr sz="1120">
                <a:solidFill>
                  <a:srgbClr val="0F2137"/>
                </a:solidFill>
              </a:rPr>
              <a:t>Training + validation + testing data
with YOLO-format labels.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800600"/>
            <a:ext cx="5166360" cy="100584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Final result</a:t>
            </a:r>
          </a:p>
          <a:p>
            <a:r>
              <a:rPr sz="1120">
                <a:solidFill>
                  <a:srgbClr val="0F2137"/>
                </a:solidFill>
              </a:rPr>
              <a:t>The best checkpoint is stored as best.pt and reused for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2137"/>
                </a:solidFill>
              </a:rPr>
              <a:t>7. How the System Works During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The trained model is reused on every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932688"/>
            <a:ext cx="10972800" cy="22860"/>
          </a:xfrm>
          <a:prstGeom prst="rect">
            <a:avLst/>
          </a:prstGeom>
          <a:solidFill>
            <a:srgbClr val="1F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1508760"/>
            <a:ext cx="1920240" cy="13716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OpenCV</a:t>
            </a:r>
          </a:p>
          <a:p>
            <a:r>
              <a:rPr sz="1120">
                <a:solidFill>
                  <a:srgbClr val="0F2137"/>
                </a:solidFill>
              </a:rPr>
              <a:t>Capture image / video / webcam frame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2194560"/>
            <a:ext cx="274320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606040" y="1508760"/>
            <a:ext cx="1920240" cy="13716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YOLO</a:t>
            </a:r>
          </a:p>
          <a:p>
            <a:r>
              <a:rPr sz="1120">
                <a:solidFill>
                  <a:srgbClr val="0F2137"/>
                </a:solidFill>
              </a:rPr>
              <a:t>model.predict(frame, conf=0.4)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6280" y="2194560"/>
            <a:ext cx="274320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92040" y="1508760"/>
            <a:ext cx="1920240" cy="13716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Prediction</a:t>
            </a:r>
          </a:p>
          <a:p>
            <a:r>
              <a:rPr sz="1120">
                <a:solidFill>
                  <a:srgbClr val="0F2137"/>
                </a:solidFill>
              </a:rPr>
              <a:t>Get box, class ID and confidence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12279" y="2194560"/>
            <a:ext cx="274321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178040" y="1508760"/>
            <a:ext cx="1920240" cy="13716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Visualization</a:t>
            </a:r>
          </a:p>
          <a:p>
            <a:r>
              <a:rPr sz="1120">
                <a:solidFill>
                  <a:srgbClr val="0F2137"/>
                </a:solidFill>
              </a:rPr>
              <a:t>Draw box + label + confidence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98280" y="2194560"/>
            <a:ext cx="274320" cy="0"/>
          </a:xfrm>
          <a:prstGeom prst="line">
            <a:avLst/>
          </a:prstGeom>
          <a:ln w="2667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64040" y="1508760"/>
            <a:ext cx="1920240" cy="13716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0F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0F2137"/>
                </a:solidFill>
              </a:rPr>
              <a:t>Display</a:t>
            </a:r>
          </a:p>
          <a:p>
            <a:r>
              <a:rPr sz="1120">
                <a:solidFill>
                  <a:srgbClr val="0F2137"/>
                </a:solidFill>
              </a:rPr>
              <a:t>Show annotated frame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337560"/>
            <a:ext cx="5212080" cy="1508760"/>
          </a:xfrm>
          <a:prstGeom prst="roundRect">
            <a:avLst/>
          </a:prstGeom>
          <a:solidFill>
            <a:srgbClr val="FAF8F0"/>
          </a:solidFill>
          <a:ln w="17780">
            <a:solidFill>
              <a:srgbClr val="B9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875F14"/>
                </a:solidFill>
              </a:rPr>
              <a:t>Why conf = 0.4?</a:t>
            </a:r>
          </a:p>
          <a:p>
            <a:r>
              <a:rPr sz="1120">
                <a:solidFill>
                  <a:srgbClr val="0F2137"/>
                </a:solidFill>
              </a:rPr>
              <a:t>The notebook keeps predictions whose confidence is at least 0.40, helping remove weak detections.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3337560"/>
            <a:ext cx="5212080" cy="1508760"/>
          </a:xfrm>
          <a:prstGeom prst="roundRect">
            <a:avLst/>
          </a:prstGeom>
          <a:solidFill>
            <a:srgbClr val="F5FAF5"/>
          </a:solidFill>
          <a:ln w="17780">
            <a:solidFill>
              <a:srgbClr val="23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238750"/>
                </a:solidFill>
              </a:rPr>
              <a:t>What the code does</a:t>
            </a:r>
          </a:p>
          <a:p>
            <a:r>
              <a:rPr sz="1120">
                <a:solidFill>
                  <a:srgbClr val="0F2137"/>
                </a:solidFill>
              </a:rPr>
              <a:t>Reads each box → gets class name → draws the bounding box → counts Mask / No Mask → displays the frame.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0640"/>
            <a:ext cx="10698480" cy="685800"/>
          </a:xfrm>
          <a:prstGeom prst="roundRect">
            <a:avLst/>
          </a:prstGeom>
          <a:solidFill>
            <a:srgbClr val="EFF5FC"/>
          </a:solidFill>
          <a:ln w="17780">
            <a:solidFill>
              <a:srgbClr val="1F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/>
          <a:lstStyle/>
          <a:p>
            <a:pPr algn="ctr"/>
            <a:r>
              <a:rPr sz="1500" b="1">
                <a:solidFill>
                  <a:srgbClr val="1F5EAA"/>
                </a:solidFill>
              </a:rPr>
              <a:t>Viva sentence</a:t>
            </a:r>
          </a:p>
          <a:p>
            <a:r>
              <a:rPr sz="1120">
                <a:solidFill>
                  <a:srgbClr val="0F2137"/>
                </a:solidFill>
              </a:rPr>
              <a:t>“I trained the detector once, saved the learned weights as best.pt, and then used OpenCV to send video frames to YOLO for real-time prediction.”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9235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What can be improved next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5358384" cy="2743200"/>
          </a:xfrm>
          <a:prstGeom prst="roundRect">
            <a:avLst>
              <a:gd name="adj" fmla="val 2000"/>
            </a:avLst>
          </a:prstGeom>
          <a:solidFill>
            <a:srgbClr val="FDECEC"/>
          </a:solidFill>
          <a:ln w="12700">
            <a:solidFill>
              <a:srgbClr val="D7DFE9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2743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55064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B5B"/>
                </a:solidFill>
              </a:rPr>
              <a:t>Current limitations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9536" y="2020824"/>
            <a:ext cx="50657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Lower reliability with severe occlusion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Small faces, blur and poor lighting are challenging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Only two classes: Mask / No Mask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Mainly notebook-based deployment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58384" cy="2743200"/>
          </a:xfrm>
          <a:prstGeom prst="roundRect">
            <a:avLst>
              <a:gd name="adj" fmla="val 2000"/>
            </a:avLst>
          </a:prstGeom>
          <a:solidFill>
            <a:srgbClr val="EAF8EF"/>
          </a:solidFill>
          <a:ln w="12700">
            <a:solidFill>
              <a:srgbClr val="D7DFE9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508760"/>
            <a:ext cx="73152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655064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B5B"/>
                </a:solidFill>
              </a:rPr>
              <a:t>Future work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373368" y="2020824"/>
            <a:ext cx="50657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Expand dataset diversity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Add “incorrect mask” as a class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Compare YOLO model sizes for speed vs accuracy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Add alerts, logging, cloud storage or a simple interface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68172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Scope boundary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40280" y="4645152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The current project focuses on detection and classification. It does not identify people or store long-term surveillance records.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Conclusion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43000" y="141732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CE8F3"/>
                </a:solidFill>
              </a:rPr>
              <a:t>The project demonstrates a complete YOLO-based pipeline from annotated data to real-time visual detection.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993392" y="2514600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1F5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26883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Simple: one integrated detector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93392" y="3264408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1C6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43814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Practical: image, video and webcam support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993392" y="4014216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1E7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418795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Interpretable: boxes, labels and confidence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010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0E2"/>
                </a:solidFill>
              </a:rPr>
              <a:t>Questions / Viva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A5E"/>
                </a:solidFill>
                <a:latin typeface="Aptos Display"/>
              </a:rPr>
              <a:t>8. Detection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955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978"/>
                </a:solidFill>
                <a:latin typeface="Aptos"/>
              </a:rPr>
              <a:t>Example output from the trained face-mask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9848"/>
            <a:ext cx="11247120" cy="27432"/>
          </a:xfrm>
          <a:prstGeom prst="rect">
            <a:avLst/>
          </a:prstGeom>
          <a:solidFill>
            <a:srgbClr val="23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7498079" cy="4736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ul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70408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554480"/>
            <a:ext cx="2971800" cy="4462272"/>
          </a:xfrm>
          <a:prstGeom prst="roundRect">
            <a:avLst/>
          </a:prstGeom>
          <a:solidFill>
            <a:srgbClr val="F5F9FC"/>
          </a:solidFill>
          <a:ln w="17780">
            <a:solidFill>
              <a:srgbClr val="26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46304"/>
          <a:lstStyle/>
          <a:p>
            <a:pPr algn="ctr"/>
            <a:r>
              <a:rPr sz="1800" b="1">
                <a:solidFill>
                  <a:srgbClr val="268955"/>
                </a:solidFill>
                <a:latin typeface="Aptos Display"/>
              </a:rPr>
              <a:t>What the output shows</a:t>
            </a:r>
          </a:p>
          <a:p>
            <a:pPr>
              <a:spcBef>
                <a:spcPts val="1100"/>
              </a:spcBef>
              <a:spcAft>
                <a:spcPts val="100"/>
              </a:spcAft>
            </a:pPr>
            <a:r>
              <a:rPr sz="1400" b="1">
                <a:solidFill>
                  <a:srgbClr val="143A5E"/>
                </a:solidFill>
                <a:latin typeface="Aptos"/>
              </a:rPr>
              <a:t>Bounding box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83441"/>
                </a:solidFill>
                <a:latin typeface="Aptos"/>
              </a:rPr>
              <a:t>The model locates each detected face.</a:t>
            </a:r>
          </a:p>
          <a:p>
            <a:pPr>
              <a:spcBef>
                <a:spcPts val="1100"/>
              </a:spcBef>
              <a:spcAft>
                <a:spcPts val="100"/>
              </a:spcAft>
            </a:pPr>
            <a:r>
              <a:rPr sz="1400" b="1">
                <a:solidFill>
                  <a:srgbClr val="143A5E"/>
                </a:solidFill>
                <a:latin typeface="Aptos"/>
              </a:rPr>
              <a:t>Class label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83441"/>
                </a:solidFill>
                <a:latin typeface="Aptos"/>
              </a:rPr>
              <a:t>The model assigns a learned class.</a:t>
            </a:r>
          </a:p>
          <a:p>
            <a:pPr>
              <a:spcBef>
                <a:spcPts val="1100"/>
              </a:spcBef>
              <a:spcAft>
                <a:spcPts val="100"/>
              </a:spcAft>
            </a:pPr>
            <a:r>
              <a:rPr sz="1400" b="1">
                <a:solidFill>
                  <a:srgbClr val="143A5E"/>
                </a:solidFill>
                <a:latin typeface="Aptos"/>
              </a:rPr>
              <a:t>Confidence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83441"/>
                </a:solidFill>
                <a:latin typeface="Aptos"/>
              </a:rPr>
              <a:t>The score shows prediction confidence.</a:t>
            </a:r>
          </a:p>
          <a:p>
            <a:pPr>
              <a:spcBef>
                <a:spcPts val="1100"/>
              </a:spcBef>
              <a:spcAft>
                <a:spcPts val="100"/>
              </a:spcAft>
            </a:pPr>
            <a:r>
              <a:rPr sz="1400" b="1">
                <a:solidFill>
                  <a:srgbClr val="143A5E"/>
                </a:solidFill>
                <a:latin typeface="Aptos"/>
              </a:rPr>
              <a:t>Multiple faces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83441"/>
                </a:solidFill>
                <a:latin typeface="Aptos"/>
              </a:rPr>
              <a:t>Several faces can be detected in one 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81344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978"/>
                </a:solidFill>
                <a:latin typeface="Aptos"/>
              </a:rPr>
              <a:t>Example detection result: boxes + class labels + confidence scores.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583680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Aptos"/>
              </a:rPr>
              <a:t>Face Mask Detection • FYP Viva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97640" y="6583680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Islamia College, Peshawar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in Crowded Environments Using YOLO</dc:title>
  <dc:subject>FYP Viva Presentation</dc:subject>
  <dc:creator>Muhammad Ali Rehman</dc:creator>
  <cp:lastModifiedBy>Muhammad Ali Rehman</cp:lastModifiedBy>
  <cp:revision>1</cp:revision>
  <dcterms:created xsi:type="dcterms:W3CDTF">2026-09-21T15:18:41Z</dcterms:created>
  <dcterms:modified xsi:type="dcterms:W3CDTF">2026-09-21T15:18:41Z</dcterms:modified>
</cp:coreProperties>
</file>